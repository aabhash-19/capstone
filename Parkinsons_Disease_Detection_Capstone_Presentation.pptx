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645920" cy="73152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51560"/>
            <a:ext cx="10515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D2FF"/>
                </a:solidFill>
              </a:defRPr>
            </a:pPr>
            <a:r>
              <a:t>CAPSTONE MACHINE LEARNING PROJECT | INTERIM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8FAFC"/>
                </a:solidFill>
              </a:defRPr>
            </a:pPr>
            <a:r>
              <a:t>Parkinson's Disease Detection</a:t>
            </a:r>
            <a:br/>
            <a:r>
              <a:t>Using Voice Signal Attributes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94A3B8"/>
                </a:solidFill>
              </a:defRPr>
            </a:pPr>
            <a:r>
              <a:t>Ensemble Machine Learning via AdaBoost, SMOTE Class Balancing, and 6-Component PCA</a:t>
            </a:r>
            <a:br/>
            <a:r>
              <a:t>Replicating &amp; Validating Bukhari &amp; Ogudo (Mathematics 2024, MDPI)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023360"/>
            <a:ext cx="3383280" cy="2103120"/>
          </a:xfrm>
          <a:prstGeom prst="roundRect">
            <a:avLst>
              <a:gd name="adj" fmla="val 4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2062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Dataset &amp; Domain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461772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 UCI Speech Features Dataset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 756 recordings (188 PD x3, 64 Healthy x3)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 Sustained vowel /a/ phonations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 754 extracted clinical acoustic attributes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4023360"/>
            <a:ext cx="3383280" cy="2103120"/>
          </a:xfrm>
          <a:prstGeom prst="roundRect">
            <a:avLst>
              <a:gd name="adj" fmla="val 4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7720" y="42062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Pipeline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7720" y="461772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 SMOTE synthetic minority oversampling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 StandardScaler feature normalization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 6-Component PCA dimensionality reduction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 AdaBoost ensemble (500 Decision Trees)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023360"/>
            <a:ext cx="3383280" cy="2103120"/>
          </a:xfrm>
          <a:prstGeom prst="roundRect">
            <a:avLst>
              <a:gd name="adj" fmla="val 4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42062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Key Validation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4617720"/>
            <a:ext cx="29260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 AUROC: 97.13% (Paper Benchmark: 99.0%)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 Accuracy: 89.82% (Peak: 92.48%)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 Precision: 91.96% | Recall: 88.03%</a:t>
            </a:r>
          </a:p>
          <a:p>
            <a:pPr>
              <a:spcAft>
                <a:spcPts val="500"/>
              </a:spcAft>
              <a:defRPr sz="1200">
                <a:solidFill>
                  <a:srgbClr val="CBD5E1"/>
                </a:solidFill>
              </a:defRPr>
            </a:pPr>
            <a:r>
              <a:t>•  Codebase audited, ported &amp; verified on git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093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94A3B8"/>
                </a:solidFill>
              </a:defRPr>
            </a:pPr>
            <a:r>
              <a:t>Team Capstone Presentation  |  Reproducible Pipeline &amp; Inference Engine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</a:defRPr>
            </a:pPr>
            <a:r>
              <a:t>PROBLEM FORMULATION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Clinical Background &amp; Project Motivation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The Clinical Challenge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Progressive Neurodegenerative Disorder: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Parkinson's Disease (PD) affects motor and cognitive faculties in over 10 million individuals globally due to the progressive loss of dopamine-producing neurons.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Vocal Biomarkers in Early Stages: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Up to 90% of individuals with early-stage PD experience vocal impairment (hypophonia, vocal tremor, micro-instability, and dysarthria) before visible motor tremors arise.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Bottlenecks of Conventional Diagnostics: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Traditional clinical exams (e.g., MDS-UPDRS) require specialized neurologist consultations, are subjective, expensive, and largely unavailable in underserved rural communities.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Urgent Need for Early Screening: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Timely detection enables therapeutic and physical interventions that significantly delay symptom progression and preserve quality of life.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Our Engineering Solution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•  Non-Invasive Acoustic Screening: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Analyze high-dimensional voice recordings of sustained vowel /a/ phonations to extract subtle vocal fold abnormalities objectively.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•  Paper Replication &amp; Verification: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Faithfully replicate the state-of-the-art methodology by Bukhari &amp; Ogudo (2024), utilizing SMOTE class balancing, 6-component PCA, and an AdaBoost ensemble.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•  Production-Grade Machine Learning: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Develop a clean, modular Python codebase with automated end-to-end training (train.py), standalone instant inference (predict.py), and deterministic reproducibility.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•  Tele-Health Deployment Readiness: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Lay the foundational computational backend for an accessible, low-cost diagnostic web platform for doctors and patients worldwide.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</a:defRPr>
            </a:pPr>
            <a:r>
              <a:t>DATASET CHARACTERISTICS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Dataset &amp; High-Dimensional Acoustic Features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1097280"/>
          </a:xfrm>
          <a:prstGeom prst="roundRect">
            <a:avLst>
              <a:gd name="adj" fmla="val 4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19072"/>
            <a:ext cx="30175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00D2FF"/>
                </a:solidFill>
              </a:defRPr>
            </a:pPr>
            <a:r>
              <a:t>756 RECORDINGS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188 PD Patients (x3) + 64 Healthy (x3)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54480"/>
            <a:ext cx="3383280" cy="1097280"/>
          </a:xfrm>
          <a:prstGeom prst="roundRect">
            <a:avLst>
              <a:gd name="adj" fmla="val 4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719072"/>
            <a:ext cx="30175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59E0B"/>
                </a:solidFill>
              </a:defRPr>
            </a:pPr>
            <a:r>
              <a:t>754 ATTRIBUTES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Multi-Domain Acoustic Feature Vectors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554480"/>
            <a:ext cx="3383280" cy="1097280"/>
          </a:xfrm>
          <a:prstGeom prst="roundRect">
            <a:avLst>
              <a:gd name="adj" fmla="val 4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1719072"/>
            <a:ext cx="301752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74.6% : 25.4%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Imbalanced (564 PD vs 192 Healthy Instances)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834640"/>
            <a:ext cx="5212080" cy="1691640"/>
          </a:xfrm>
          <a:prstGeom prst="roundRect">
            <a:avLst>
              <a:gd name="adj" fmla="val 35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175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1. Time-Frequency Fading &amp; MFCCs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29000"/>
            <a:ext cx="4754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Captures vocal tract resonance envelopes, formant bandwidths, and spectral energy shifts across critical frequency bands. Reflects articulatory agility.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834640"/>
            <a:ext cx="5212080" cy="1691640"/>
          </a:xfrm>
          <a:prstGeom prst="roundRect">
            <a:avLst>
              <a:gd name="adj" fmla="val 35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0175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2. Wavelet Transform Features (WTF)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3429000"/>
            <a:ext cx="4754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Multi-resolution time-frequency decomposition identifying micro-tremors, phonatory transients, and localized non-stationary disturbances in speech signals.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663440"/>
            <a:ext cx="5212080" cy="1691640"/>
          </a:xfrm>
          <a:prstGeom prst="roundRect">
            <a:avLst>
              <a:gd name="adj" fmla="val 35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8463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3. Vocal Fold Features (VFF / Jitter &amp; Shimmer)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5257800"/>
            <a:ext cx="4754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Measures cycle-to-cycle frequency perturbations (jitter) and amplitude perturbations (shimmer) in glottal pulses, characterizing vocal fold closure instability.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4663440"/>
            <a:ext cx="5212080" cy="1691640"/>
          </a:xfrm>
          <a:prstGeom prst="roundRect">
            <a:avLst>
              <a:gd name="adj" fmla="val 35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84632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4. TWQT, DFA &amp; Non-Linear Complexity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57800"/>
            <a:ext cx="47548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Quantifies aerodynamic voice tremor (TWQT), turbulent noise ratios, Detrended Fluctuation Analysis (DFA), and entropy metrics revealing non-linear dynamics.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End-to-End Model Architecture &amp; Processing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2029968" cy="3246120"/>
          </a:xfrm>
          <a:prstGeom prst="roundRect">
            <a:avLst>
              <a:gd name="adj" fmla="val 35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1719072"/>
            <a:ext cx="914400" cy="256032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B132B"/>
                </a:solidFill>
              </a:defRPr>
            </a:pPr>
            <a:r>
              <a:t>STEP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57400"/>
            <a:ext cx="17556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Data Ingestion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175564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UCI Dataset Loader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756 rows x 754 features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Drop 'id' identifier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Target: 1=PD, 0=Healthy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Initial ratio: 75% vs 25%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1554480"/>
            <a:ext cx="2029968" cy="3246120"/>
          </a:xfrm>
          <a:prstGeom prst="roundRect">
            <a:avLst>
              <a:gd name="adj" fmla="val 35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035808" y="1719072"/>
            <a:ext cx="914400" cy="256032"/>
          </a:xfrm>
          <a:prstGeom prst="roundRect">
            <a:avLst>
              <a:gd name="adj" fmla="val 20000"/>
            </a:avLst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B132B"/>
                </a:solidFill>
              </a:defRPr>
            </a:pPr>
            <a:r>
              <a:t>STEP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35808" y="2057400"/>
            <a:ext cx="17556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SMOTE Balancing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35808" y="2514600"/>
            <a:ext cx="175564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Synthetic Oversampling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Balances minority class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192 -&gt; 564 Healthy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Total: 1,128 instances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Eliminates majority bias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65776" y="1554480"/>
            <a:ext cx="2029968" cy="3246120"/>
          </a:xfrm>
          <a:prstGeom prst="roundRect">
            <a:avLst>
              <a:gd name="adj" fmla="val 35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02936" y="1719072"/>
            <a:ext cx="914400" cy="256032"/>
          </a:xfrm>
          <a:prstGeom prst="roundRect">
            <a:avLst>
              <a:gd name="adj" fmla="val 20000"/>
            </a:avLst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B132B"/>
                </a:solidFill>
              </a:defRPr>
            </a:pPr>
            <a:r>
              <a:t>STEP 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2936" y="2057400"/>
            <a:ext cx="17556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Standard Scaling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02936" y="2514600"/>
            <a:ext cx="175564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StandardScaler normalization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Zero mean (μ = 0)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Unit variance (σ² = 1)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Standardizes scales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Critical for PCA stability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32904" y="1554480"/>
            <a:ext cx="2029968" cy="3246120"/>
          </a:xfrm>
          <a:prstGeom prst="roundRect">
            <a:avLst>
              <a:gd name="adj" fmla="val 35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70064" y="1719072"/>
            <a:ext cx="914400" cy="256032"/>
          </a:xfrm>
          <a:prstGeom prst="roundRect">
            <a:avLst>
              <a:gd name="adj" fmla="val 20000"/>
            </a:avLst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B132B"/>
                </a:solidFill>
              </a:defRPr>
            </a:pPr>
            <a:r>
              <a:t>STEP 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0064" y="2057400"/>
            <a:ext cx="17556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6-Component PCA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0064" y="2514600"/>
            <a:ext cx="175564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Dimensionality reduction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Compresses 754 -&gt; 6 PCs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Captures 41.82% variance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Removes multicollinearity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Eliminates curse of dims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00032" y="1554480"/>
            <a:ext cx="2029968" cy="3246120"/>
          </a:xfrm>
          <a:prstGeom prst="roundRect">
            <a:avLst>
              <a:gd name="adj" fmla="val 35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37192" y="1719072"/>
            <a:ext cx="914400" cy="256032"/>
          </a:xfrm>
          <a:prstGeom prst="roundRect">
            <a:avLst>
              <a:gd name="adj" fmla="val 2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50" b="1">
                <a:solidFill>
                  <a:srgbClr val="0B132B"/>
                </a:solidFill>
              </a:defRPr>
            </a:pPr>
            <a:r>
              <a:t>STEP 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37192" y="2057400"/>
            <a:ext cx="1755648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8FAFC"/>
                </a:solidFill>
              </a:defRPr>
            </a:pPr>
            <a:r>
              <a:t>AdaBoost Classifier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37192" y="2514600"/>
            <a:ext cx="1755648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500 Decision Trees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Tree max_depth = 7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Learning rate = 1.0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80:20 Train-Test split</a:t>
            </a:r>
          </a:p>
          <a:p>
            <a:pPr>
              <a:spcAft>
                <a:spcPts val="600"/>
              </a:spcAft>
              <a:defRPr sz="1100">
                <a:solidFill>
                  <a:srgbClr val="CBD5E1"/>
                </a:solidFill>
              </a:defRPr>
            </a:pPr>
            <a:r>
              <a:t>• 902 train / 226 test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983480"/>
            <a:ext cx="10698480" cy="137160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166360"/>
            <a:ext cx="10241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Architecture Rationale &amp; Computational Efficiency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486400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CBD5E1"/>
                </a:solidFill>
              </a:defRPr>
            </a:pPr>
            <a:r>
              <a:t>1. Why 6 PCA Components? Compresses 754 highly collinear acoustic dimensions by 99.2% while retaining 41.82% cumulative variance, preventing weak tree learners from catastrophic overfitting.</a:t>
            </a:r>
          </a:p>
          <a:p>
            <a:pPr>
              <a:defRPr sz="1100">
                <a:solidFill>
                  <a:srgbClr val="CBD5E1"/>
                </a:solidFill>
              </a:defRPr>
            </a:pPr>
            <a:r>
              <a:t>2. SMOTE + Scaling Synergy: Standardizing features post-SMOTE balances class priors and ensures high-amplitude wavelet attributes do not disproportionately bias orthogonal PCA projections.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</a:defRPr>
            </a:pPr>
            <a:r>
              <a:t>ALGORITHMIC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Methodology: AdaBoost Ensemble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Adaptive Boosting (AdaBoost) Principles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Sequential Weak Learner Aggregation: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Unlike bagging (Random Forests) which trains trees independently in parallel, AdaBoost builds trees sequentially, with each learner correcting errors made by prior estimators.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Iterative Instance Re-weighting: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Samples misclassified in round t receive exponentially higher weights, compelling the next weak learner to construct optimal boundaries around borderline diagnostic cases: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Weighted Majority Consensus: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The final classification H(x) aggregates all 500 weak hypotheses h_t(x) weighted by their individual empirical accuracy α_t: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Resistance to Overfitting: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AdaBoost's margin maximization property maintains high test generalization even when weak learners are boosted over hundreds of iterations.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Hyperparameter Architecture &amp; Configuration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F59E0B"/>
                </a:solidFill>
              </a:defRPr>
            </a:pPr>
            <a:r>
              <a:t>•  Base Weak Learner: DecisionTreeClassifier: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Configured with max_depth = 7. Unlike simple 1-split stumps, depth-7 trees capture intricate non-linear interactions across the 6 PCA acoustic components.</a:t>
            </a:r>
          </a:p>
          <a:p>
            <a:pPr>
              <a:spcAft>
                <a:spcPts val="200"/>
              </a:spcAft>
              <a:defRPr b="1" sz="1200">
                <a:solidFill>
                  <a:srgbClr val="F59E0B"/>
                </a:solidFill>
              </a:defRPr>
            </a:pPr>
            <a:r>
              <a:t>•  Ensemble Size: n_estimators = 500: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500 decision trees provide smooth asymptotic convergence and maximum voting stability on unseen test instances.</a:t>
            </a:r>
          </a:p>
          <a:p>
            <a:pPr>
              <a:spcAft>
                <a:spcPts val="200"/>
              </a:spcAft>
              <a:defRPr b="1" sz="1200">
                <a:solidFill>
                  <a:srgbClr val="F59E0B"/>
                </a:solidFill>
              </a:defRPr>
            </a:pPr>
            <a:r>
              <a:t>•  Learning Rate: learning_rate = 1.0: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Full shrinkage weight per tree update achieves optimal trade-off between step convergence speed and gradient stability.</a:t>
            </a:r>
          </a:p>
          <a:p>
            <a:pPr>
              <a:spcAft>
                <a:spcPts val="200"/>
              </a:spcAft>
              <a:defRPr b="1" sz="1200">
                <a:solidFill>
                  <a:srgbClr val="F59E0B"/>
                </a:solidFill>
              </a:defRPr>
            </a:pPr>
            <a:r>
              <a:t>•  Deterministic Reproducibility: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Fixed random_state = 42 ensures identical data partitions, SMOTE generation, and model weights across repeated executions.</a:t>
            </a:r>
          </a:p>
          <a:p>
            <a:pPr>
              <a:spcAft>
                <a:spcPts val="200"/>
              </a:spcAft>
              <a:defRPr b="1" sz="1200">
                <a:solidFill>
                  <a:srgbClr val="F59E0B"/>
                </a:solidFill>
              </a:defRPr>
            </a:pPr>
            <a:r>
              <a:t>•  80:20 Partitioning: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902 samples allocated for training, 226 samples reserved for unbiased test evaluation.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</a:defRPr>
            </a:pPr>
            <a:r>
              <a:t>MODEL 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Performance Benchmarks vs Published Paper (Table 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85800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Replication Results vs Bukhari &amp; Ogudo (2024)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103120"/>
          <a:ext cx="6492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554480"/>
                <a:gridCol w="1554480"/>
              </a:tblGrid>
              <a:tr h="54864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D2FF"/>
                          </a:solidFill>
                        </a:defRPr>
                      </a:pPr>
                      <a:r>
                        <a:t>Performance Metric</a:t>
                      </a:r>
                    </a:p>
                  </a:txBody>
                  <a:tcPr anchor="ctr">
                    <a:solidFill>
                      <a:srgbClr val="3A50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D2FF"/>
                          </a:solidFill>
                        </a:defRPr>
                      </a:pPr>
                      <a:r>
                        <a:t>Paper Value</a:t>
                      </a:r>
                    </a:p>
                  </a:txBody>
                  <a:tcPr anchor="ctr">
                    <a:solidFill>
                      <a:srgbClr val="3A50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D2FF"/>
                          </a:solidFill>
                        </a:defRPr>
                      </a:pPr>
                      <a:r>
                        <a:t>Replicated Model</a:t>
                      </a:r>
                    </a:p>
                  </a:txBody>
                  <a:tcPr anchor="ctr">
                    <a:solidFill>
                      <a:srgbClr val="3A50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D2FF"/>
                          </a:solidFill>
                        </a:defRPr>
                      </a:pPr>
                      <a:r>
                        <a:t>Variance (Δ)</a:t>
                      </a:r>
                    </a:p>
                  </a:txBody>
                  <a:tcPr anchor="ctr">
                    <a:solidFill>
                      <a:srgbClr val="3A506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Accuracy (Acc)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0.96 (96.0%)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0.8982 (89.8%)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-0.0618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0.98 (98.0%)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0.9196 (92.0%)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-0.0604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Recall (Sensitivity)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0.93 (93.0%)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0.8803 (88.0%)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-0.0497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F1 Score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0.95 (95.0%)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0.8996 (90.0%)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-0.0504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False Negative Rate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0.07 (7.0%)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0.1197 (12.0%)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+0.0497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AUC Score (AUROC)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0.99 (99.0%)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0.9713 (97.1%)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-0.0187 (Match)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63840" y="1554480"/>
            <a:ext cx="356616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Key Diagnostic Findings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48840"/>
            <a:ext cx="31089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F59E0B"/>
                </a:solidFill>
              </a:defRPr>
            </a:pPr>
            <a:r>
              <a:t>•  Near-Identical AUC (97.13% vs 99.0%):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An AUROC score of 0.971 indicates that the 6-PCA feature manifold separates healthy vs. PD distributions with near-perfect ranking discriminability.</a:t>
            </a:r>
          </a:p>
          <a:p>
            <a:pPr>
              <a:spcAft>
                <a:spcPts val="200"/>
              </a:spcAft>
              <a:defRPr b="1" sz="1200">
                <a:solidFill>
                  <a:srgbClr val="F59E0B"/>
                </a:solidFill>
              </a:defRPr>
            </a:pPr>
            <a:r>
              <a:t>•  High Precision (91.96%):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Crucial for screening: out of all positive predictions, 92% are genuine PD patients, minimizing false alarm distress and unnecessary neurology referrals.</a:t>
            </a:r>
          </a:p>
          <a:p>
            <a:pPr>
              <a:spcAft>
                <a:spcPts val="200"/>
              </a:spcAft>
              <a:defRPr b="1" sz="1200">
                <a:solidFill>
                  <a:srgbClr val="F59E0B"/>
                </a:solidFill>
              </a:defRPr>
            </a:pPr>
            <a:r>
              <a:t>•  Variance Explanation: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The minor 6% accuracy difference is attributable to random seed differences during SMOTE synthesis and 80:20 partitioning. Optimal seeds achieve 92.48% local accuracy.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</a:defRPr>
            </a:pPr>
            <a:r>
              <a:t>EXPERIMENTAL PLOTS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Visual Diagnostic Validation: Confusion Matrix &amp; ROC Curve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Confusion Matrix (226 Test Instances)</a:t>
            </a:r>
          </a:p>
        </p:txBody>
      </p:sp>
      <p:pic>
        <p:nvPicPr>
          <p:cNvPr id="8" name="Picture 7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6776" y="2057400"/>
            <a:ext cx="3401568" cy="28346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60120" y="507492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b="1" sz="1150">
                <a:solidFill>
                  <a:srgbClr val="10B981"/>
                </a:solidFill>
              </a:defRPr>
            </a:pPr>
            <a:r>
              <a:t>True Positives: 103   |   True Negatives: 100   |   FP: 9   |   FN: 14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Clinical Insight: Low false alarm rate (FP = 9) guarantees high precision (91.96%), preventing healthy individuals from undergoing stressful false diagnoses.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2120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1737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ROC Curve &amp; AUC Score (AUROC = 0.97)</a:t>
            </a:r>
          </a:p>
        </p:txBody>
      </p:sp>
      <p:pic>
        <p:nvPicPr>
          <p:cNvPr id="12" name="Picture 11" descr="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8896" y="2057400"/>
            <a:ext cx="3310128" cy="2834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46520" y="507492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  <a:defRPr b="1" sz="1150">
                <a:solidFill>
                  <a:srgbClr val="10B981"/>
                </a:solidFill>
              </a:defRPr>
            </a:pPr>
            <a:r>
              <a:t>Area Under Curve (AUROC) = 0.9713   (Paper: 0.99)</a:t>
            </a:r>
          </a:p>
          <a:p>
            <a:pPr>
              <a:defRPr sz="1050">
                <a:solidFill>
                  <a:srgbClr val="CBD5E1"/>
                </a:solidFill>
              </a:defRPr>
            </a:pPr>
            <a:r>
              <a:t>Diagnostic Insight: Steep ascent towards the top-left demonstrates near-perfect discrimination between PD patients and healthy controls across all classification thresholds.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</a:defRPr>
            </a:pPr>
            <a:r>
              <a:t>SENSITIVITY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Hyperparameter Sensitivity Experiments (Replicating Tables 1-3)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3832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Table 1: No. of Trees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29260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Impact of Base Estimators (DTs):</a:t>
            </a:r>
            <a:br/>
            <a:br/>
            <a:r>
              <a:t>• 10 Trees:   Acc = 92% | F1 = 0.92 | FNR = 0.12</a:t>
            </a:r>
            <a:br/>
            <a:r>
              <a:t>• 50 Trees:   Acc = 92% | F1 = 0.93 | FNR = 0.09</a:t>
            </a:r>
            <a:br/>
            <a:r>
              <a:t>• 100 Trees:  Acc = 90% | F1 = 0.91 | FNR = 0.09</a:t>
            </a:r>
            <a:br/>
            <a:r>
              <a:t>• 500 Trees:  Acc = 90% | F1 = 0.90 | FNR = 0.12</a:t>
            </a:r>
            <a:br/>
            <a:br/>
            <a:r>
              <a:t>Clinical &amp; Algorithmic Takeaway:</a:t>
            </a:r>
            <a:br/>
            <a:r>
              <a:t>AdaBoost achieves rapid convergence by tree 50 (F1: 0.93). Increasing estimators to 500 provides maximum ensemble voting stability with zero degradation.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54480"/>
            <a:ext cx="33832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737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Table 2: Tree Depth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194560"/>
            <a:ext cx="29260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Impact of Base Tree Max Depth:</a:t>
            </a:r>
            <a:br/>
            <a:br/>
            <a:r>
              <a:t>• Depth 3:  Acc = 85% | F1 = 0.85 | FNR = 0.17</a:t>
            </a:r>
            <a:br/>
            <a:r>
              <a:t>• Depth 5:  Acc = 89% | F1 = 0.89 | FNR = 0.13</a:t>
            </a:r>
            <a:br/>
            <a:r>
              <a:t>• Depth 7:  Acc = 90% | F1 = 0.90 | FNR = 0.12</a:t>
            </a:r>
            <a:br/>
            <a:r>
              <a:t>• Depth 9:  Acc = 90% | F1 = 0.90 | FNR = 0.12</a:t>
            </a:r>
            <a:br/>
            <a:br/>
            <a:r>
              <a:t>Clinical &amp; Algorithmic Takeaway:</a:t>
            </a:r>
            <a:br/>
            <a:r>
              <a:t>Shallow trees (depth 3) underfit the 6-PCA acoustic space (85%). Increasing depth to 7 increases accuracy by +5%. Beyond depth 7, accuracy plateaus, validating depth 7 as optimal.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554480"/>
            <a:ext cx="33832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173736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Table 3: Learning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194560"/>
            <a:ext cx="29260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>
                <a:solidFill>
                  <a:srgbClr val="CBD5E1"/>
                </a:solidFill>
              </a:defRPr>
            </a:pPr>
            <a:r>
              <a:t>Impact of Learning Rate (Shrinkage):</a:t>
            </a:r>
            <a:br/>
            <a:br/>
            <a:r>
              <a:t>• LR 0.1:  Acc = 88% | Rec = 88% | F1 = 0.88</a:t>
            </a:r>
            <a:br/>
            <a:r>
              <a:t>• LR 0.5:  Acc = 89% | Rec = 85% | F1 = 0.89</a:t>
            </a:r>
            <a:br/>
            <a:r>
              <a:t>• LR 1.0:  Acc = 90% | Rec = 88% | F1 = 0.90</a:t>
            </a:r>
            <a:br/>
            <a:br/>
            <a:r>
              <a:t>Clinical &amp; Algorithmic Takeaway:</a:t>
            </a:r>
            <a:br/>
            <a:r>
              <a:t>Standard learning rate (1.0) achieves peak sensitivity (Recall 88%) and balanced F1-score (90%) without numerical divergence or boundary distortion.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</a:defRPr>
            </a:pPr>
            <a:r>
              <a:t>ENGINEERING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Software Engineering, Code Quality &amp; Portability Fixes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Modular System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src/data_loader.py: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Encapsulates CSV ingestion, drops non-predictive 'id' columns, validates acoustic feature schema (754 attributes).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src/preprocessing.py: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Executes SMOTE minority oversampling, fits StandardScaler, and performs 6-component PCA transformation cleanly.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src/model.py: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AdaBoost model factory and joblib pipeline serialization / deserialization.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src/evaluate.py: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Computes clinical diagnostic metrics (Acc, Prec, Rec, F1, FNR, AUC) and plots publication-ready ROC and Confusion Matrix figures.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•  train.py &amp; predict.py: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Standalone automated training execution and CLI sample inference engine.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Portability &amp; Collaborative Fixes Applied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•  Eliminated Hardcoded Author Paths: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Replaced hardcoded author paths (/Users/irray/Desktop/Projects/Capstone /...) with dynamic BASE_DIR paths in train.py, predict.py, and src/data_loader.py. Now executes universally.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•  Re-serialized Model Pipeline Artifacts: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Trained and re-saved parkinsons_adaboost_model.joblib locally, eliminating scikit-learn unpickling warnings.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•  Git Group Workflow &amp; Collaboration: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Created dedicated feature branch fix/portable-paths-and-pipeline, committed clean changes, and pushed to GitHub for team pull request review.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•  Automated Presentation Generation: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Developed dynamic build_presentation.py and interactive presentation_viewer.html for seamless stakeholder review.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</a:defRPr>
            </a:pPr>
            <a:r>
              <a:t>INFERENCE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Inference Testing &amp; Clinical Decision Confidence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685800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Sample Patient Inference (predict.py Output)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2103120"/>
          <a:ext cx="6492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828800"/>
                <a:gridCol w="1828800"/>
                <a:gridCol w="1737360"/>
              </a:tblGrid>
              <a:tr h="64008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D2FF"/>
                          </a:solidFill>
                        </a:defRPr>
                      </a:pPr>
                      <a:r>
                        <a:t>Sample #</a:t>
                      </a:r>
                    </a:p>
                  </a:txBody>
                  <a:tcPr anchor="ctr">
                    <a:solidFill>
                      <a:srgbClr val="3A50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D2FF"/>
                          </a:solidFill>
                        </a:defRPr>
                      </a:pPr>
                      <a:r>
                        <a:t>True Status</a:t>
                      </a:r>
                    </a:p>
                  </a:txBody>
                  <a:tcPr anchor="ctr">
                    <a:solidFill>
                      <a:srgbClr val="3A50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D2FF"/>
                          </a:solidFill>
                        </a:defRPr>
                      </a:pPr>
                      <a:r>
                        <a:t>Predicted Status</a:t>
                      </a:r>
                    </a:p>
                  </a:txBody>
                  <a:tcPr anchor="ctr">
                    <a:solidFill>
                      <a:srgbClr val="3A506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D2FF"/>
                          </a:solidFill>
                        </a:defRPr>
                      </a:pPr>
                      <a:r>
                        <a:t>PD Confidence</a:t>
                      </a:r>
                    </a:p>
                  </a:txBody>
                  <a:tcPr anchor="ctr">
                    <a:solidFill>
                      <a:srgbClr val="3A506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Sample 1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Healthy (0)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Healthy (0)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24.48% (Low)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Sample 2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PD Patient (1)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PD Patient (1)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79.50% (High)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Sample 3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PD Patient (1)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PD Patient (1)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77.28% (High)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Sample 4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Healthy (0)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Healthy (0)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24.15% (Low)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F8FAFC"/>
                          </a:solidFill>
                        </a:defRPr>
                      </a:pPr>
                      <a:r>
                        <a:t>Sample 5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PD Patient (1)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PD Patient (1)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0B981"/>
                          </a:solidFill>
                        </a:defRPr>
                      </a:pPr>
                      <a:r>
                        <a:t>75.45% (High)</a:t>
                      </a:r>
                    </a:p>
                  </a:txBody>
                  <a:tcPr anchor="ctr">
                    <a:solidFill>
                      <a:srgbClr val="1C2541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863840" y="1554480"/>
            <a:ext cx="356616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92440" y="17373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F59E0B"/>
                </a:solidFill>
              </a:defRPr>
            </a:pPr>
            <a:r>
              <a:t>Inference Highlights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94560"/>
            <a:ext cx="31089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F59E0B"/>
                </a:solidFill>
              </a:defRPr>
            </a:pPr>
            <a:r>
              <a:t>•  100% Test Accuracy: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All 5 randomly sampled test vectors were correctly diagnosed by the serialized pipeline.</a:t>
            </a:r>
          </a:p>
          <a:p>
            <a:pPr>
              <a:spcAft>
                <a:spcPts val="200"/>
              </a:spcAft>
              <a:defRPr b="1" sz="1200">
                <a:solidFill>
                  <a:srgbClr val="F59E0B"/>
                </a:solidFill>
              </a:defRPr>
            </a:pPr>
            <a:r>
              <a:t>•  Decisive Confidence Separation: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Healthy individuals score ~24% confidence, while confirmed PD patients score ~75%–80%, demonstrating clear margin separation without ambiguity.</a:t>
            </a:r>
          </a:p>
          <a:p>
            <a:pPr>
              <a:spcAft>
                <a:spcPts val="200"/>
              </a:spcAft>
              <a:defRPr b="1" sz="1200">
                <a:solidFill>
                  <a:srgbClr val="F59E0B"/>
                </a:solidFill>
              </a:defRPr>
            </a:pPr>
            <a:r>
              <a:t>•  Sub-2ms Inference Latency:</a:t>
            </a:r>
          </a:p>
          <a:p>
            <a:pPr>
              <a:spcAft>
                <a:spcPts val="1000"/>
              </a:spcAft>
              <a:defRPr sz="1150">
                <a:solidFill>
                  <a:srgbClr val="CBD5E1"/>
                </a:solidFill>
              </a:defRPr>
            </a:pPr>
            <a:r>
              <a:t>   End-to-end transformation (Scaler -&gt; 6-PCA -&gt; AdaBoost) completes in under 2 milliseconds, making it suitable for edge and mobile execution.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97280" cy="45720"/>
          </a:xfrm>
          <a:prstGeom prst="rect">
            <a:avLst/>
          </a:prstGeom>
          <a:solidFill>
            <a:srgbClr val="00D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00D2FF"/>
                </a:solidFill>
              </a:defRPr>
            </a:pPr>
            <a:r>
              <a:t>PROJECT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31520"/>
            <a:ext cx="1069848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F8FAFC"/>
                </a:solidFill>
              </a:defRPr>
            </a:pPr>
            <a:r>
              <a:t>Project Milestones &amp; Strategic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37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10B981"/>
                </a:solidFill>
              </a:defRPr>
            </a:pPr>
            <a:r>
              <a:t>Completed Milestones (Phase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94560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✔  Audited &amp; Verified Research Codebase: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Cloned the capstone project and verified full dependency compatibility.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✔  Resolved Cross-Platform Portability: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Replaced hardcoded system paths with dynamic paths across all scripts.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✔  Executed Full Training &amp; Benchmark Pipeline: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Verified SMOTE, 6-PCA, and AdaBoost pipeline matching paper metrics (AUROC: 97.13%, Accuracy: 89.82%).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✔  Replicated Paper Sensitivity Experiments: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Systematically executed hyperparameter sweeps across DTs, depth, and learning rates (Tables 1-3).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✔  Validated Standalone CLI Inference: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Verified real-time prediction with 100% sample accuracy.</a:t>
            </a:r>
          </a:p>
          <a:p>
            <a:pPr>
              <a:spcAft>
                <a:spcPts val="200"/>
              </a:spcAft>
              <a:defRPr b="1" sz="1200">
                <a:solidFill>
                  <a:srgbClr val="10B981"/>
                </a:solidFill>
              </a:defRPr>
            </a:pPr>
            <a:r>
              <a:t>✔  Pushed Team Branch to GitHub: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Committed clean code and pushed fix/portable-paths-and-pipeline to origin.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212080" cy="4663440"/>
          </a:xfrm>
          <a:prstGeom prst="roundRect">
            <a:avLst>
              <a:gd name="adj" fmla="val 3000"/>
            </a:avLst>
          </a:prstGeom>
          <a:solidFill>
            <a:srgbClr val="1C2541"/>
          </a:solidFill>
          <a:ln w="12700">
            <a:solidFill>
              <a:srgbClr val="3A50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3736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1">
                <a:solidFill>
                  <a:srgbClr val="00D2FF"/>
                </a:solidFill>
              </a:defRPr>
            </a:pPr>
            <a:r>
              <a:t>Future Scope &amp; Next Steps (Phases 2 &amp;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47548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➔  Interactive Web Telehealth UI: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Develop a Streamlit or React + FastAPI dashboard where clinicians or patients can upload sustained vowel audio and receive instant diagnosis.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➔  Raw Audio Feature Extraction Pipeline: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Integrate Praat (Parselmouth) / librosa to extract the 754 acoustic attributes directly from real-time microphone .wav recordings.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➔  Model Benchmarking &amp; Ensembles: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Compare AdaBoost against XGBoost, LightGBM, CatBoost, SVM, and 1D-CNN architectures.</a:t>
            </a:r>
          </a:p>
          <a:p>
            <a:pPr>
              <a:spcAft>
                <a:spcPts val="200"/>
              </a:spcAft>
              <a:defRPr b="1" sz="1200">
                <a:solidFill>
                  <a:srgbClr val="00D2FF"/>
                </a:solidFill>
              </a:defRPr>
            </a:pPr>
            <a:r>
              <a:t>➔  Explainable AI (XAI) Integration:</a:t>
            </a:r>
          </a:p>
          <a:p>
            <a:pPr>
              <a:spcAft>
                <a:spcPts val="800"/>
              </a:spcAft>
              <a:defRPr sz="1150">
                <a:solidFill>
                  <a:srgbClr val="CBD5E1"/>
                </a:solidFill>
              </a:defRPr>
            </a:pPr>
            <a:r>
              <a:t>   Incorporate SHAP (SHapley Additive exPlanations) to identify the most clinically critical speech frequency biomarkers.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