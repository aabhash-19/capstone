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eexplore.ieee.org/abstract/document/9426437" TargetMode="External"/><Relationship Id="rId3" Type="http://schemas.openxmlformats.org/officeDocument/2006/relationships/hyperlink" Target="https://www.frontiersin.org/journals/neuroinformatics/articles/10.3389/fninf.2017.00056/full" TargetMode="External"/><Relationship Id="rId4" Type="http://schemas.openxmlformats.org/officeDocument/2006/relationships/hyperlink" Target="https://www.mdpi.com/2227-7390/12/10/157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ciencedirect.com/science/article/pii/S1877050923000078" TargetMode="External"/><Relationship Id="rId3" Type="http://schemas.openxmlformats.org/officeDocument/2006/relationships/hyperlink" Target="https://www.jmir.org/2021/10/e26305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eexplore.ieee.org/abstract/document/8844941" TargetMode="External"/><Relationship Id="rId3" Type="http://schemas.openxmlformats.org/officeDocument/2006/relationships/hyperlink" Target="https://ojs.cvut.cz/ojs/index.php/CTJ/article/view/488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mc.ncbi.nlm.nih.gov/articles/PMC12649940/" TargetMode="External"/><Relationship Id="rId3" Type="http://schemas.openxmlformats.org/officeDocument/2006/relationships/hyperlink" Target="https://pmc.ncbi.nlm.nih.gov/articles/PMC12075230/" TargetMode="External"/><Relationship Id="rId4" Type="http://schemas.openxmlformats.org/officeDocument/2006/relationships/hyperlink" Target="https://arxiv.org/pdf/2407.1609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pdf/2504.17739" TargetMode="External"/><Relationship Id="rId3" Type="http://schemas.openxmlformats.org/officeDocument/2006/relationships/hyperlink" Target="https://publications.aston.ac.uk/id/eprint/18328/1/Suitability_of_dysphonia_measurements.pdf" TargetMode="External"/><Relationship Id="rId4" Type="http://schemas.openxmlformats.org/officeDocument/2006/relationships/hyperlink" Target="https://www.mdpi.com/2306-5354/12/7/72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nk.springer.com/article/10.1007/s12559-024-10254-8" TargetMode="External"/><Relationship Id="rId3" Type="http://schemas.openxmlformats.org/officeDocument/2006/relationships/hyperlink" Target="https://www.medrxiv.org/content/10.1101/2025.07.18.25331737v1.ful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eexplore.ieee.org/abstract/document/9426437" TargetMode="External"/><Relationship Id="rId3" Type="http://schemas.openxmlformats.org/officeDocument/2006/relationships/hyperlink" Target="https://www.frontiersin.org/journals/neuroinformatics/articles/10.3389/fninf.2017.00056/full" TargetMode="External"/><Relationship Id="rId4" Type="http://schemas.openxmlformats.org/officeDocument/2006/relationships/hyperlink" Target="https://www.mdpi.com/2227-7390/12/10/1575" TargetMode="External"/><Relationship Id="rId5" Type="http://schemas.openxmlformats.org/officeDocument/2006/relationships/hyperlink" Target="https://www.sciencedirect.com/science/article/pii/S1877050923000078" TargetMode="External"/><Relationship Id="rId6" Type="http://schemas.openxmlformats.org/officeDocument/2006/relationships/hyperlink" Target="https://www.jmir.org/2021/10/e26305/" TargetMode="External"/><Relationship Id="rId7" Type="http://schemas.openxmlformats.org/officeDocument/2006/relationships/hyperlink" Target="https://ieeexplore.ieee.org/abstract/document/8844941" TargetMode="External"/><Relationship Id="rId8" Type="http://schemas.openxmlformats.org/officeDocument/2006/relationships/hyperlink" Target="https://ojs.cvut.cz/ojs/index.php/CTJ/article/view/4881" TargetMode="External"/><Relationship Id="rId9" Type="http://schemas.openxmlformats.org/officeDocument/2006/relationships/hyperlink" Target="https://pmc.ncbi.nlm.nih.gov/articles/PMC12649940/" TargetMode="External"/><Relationship Id="rId10" Type="http://schemas.openxmlformats.org/officeDocument/2006/relationships/hyperlink" Target="https://pmc.ncbi.nlm.nih.gov/articles/PMC12075230/" TargetMode="External"/><Relationship Id="rId11" Type="http://schemas.openxmlformats.org/officeDocument/2006/relationships/hyperlink" Target="https://arxiv.org/pdf/2407.16091" TargetMode="External"/><Relationship Id="rId12" Type="http://schemas.openxmlformats.org/officeDocument/2006/relationships/hyperlink" Target="https://arxiv.org/pdf/2504.17739" TargetMode="External"/><Relationship Id="rId13" Type="http://schemas.openxmlformats.org/officeDocument/2006/relationships/hyperlink" Target="https://publications.aston.ac.uk/id/eprint/18328/1/Suitability_of_dysphonia_measurements.pdf" TargetMode="External"/><Relationship Id="rId14" Type="http://schemas.openxmlformats.org/officeDocument/2006/relationships/hyperlink" Target="https://www.mdpi.com/2306-5354/12/7/728" TargetMode="External"/><Relationship Id="rId15" Type="http://schemas.openxmlformats.org/officeDocument/2006/relationships/hyperlink" Target="https://link.springer.com/article/10.1007/s12559-024-10254-8" TargetMode="External"/><Relationship Id="rId16" Type="http://schemas.openxmlformats.org/officeDocument/2006/relationships/hyperlink" Target="https://www.medrxiv.org/content/10.1101/2025.07.18.25331737v1.ful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73152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B49"/>
                </a:solidFill>
              </a:defRPr>
            </a:pPr>
            <a:r>
              <a:t>CAPSTONE MACHINE LEARNING PROJECT | UNIFIED INTERIM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Parkinson's Disease Detection</a:t>
            </a:r>
            <a:br/>
            <a:r>
              <a:t>Using Voice Signal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Comprehensive Literature Review &amp; Ensemble Machine Learning via AdaBoost, SMOTE &amp; 6-PCA</a:t>
            </a:r>
            <a:br/>
            <a:r>
              <a:t>Replicating &amp; Validating Bukhari &amp; Ogudo (Mathematics 2024, MDPI)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Literature &amp;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15 pivotal peer-reviewed studies surveyed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UCI Speech Features Dataset (756 recordings)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Sustained vowel /a/ phonations (188 PD, 64 HC)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754 extracted clinical acoustic attributes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02336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Pipeline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6177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SMOTE synthetic minority oversampling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StandardScaler feature normalization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6-Component PCA dimensionality reduction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AdaBoost ensemble (500 Decision Trees)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</a:defRPr>
            </a:pPr>
            <a:r>
              <a:t>Key Validation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6177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AUROC: 97.13% (Paper Benchmark: 99.0%)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Accuracy: 89.82% (Peak Seed: 92.48%)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Precision: 91.96% | Recall: 88.03%</a:t>
            </a:r>
          </a:p>
          <a:p>
            <a:pPr>
              <a:spcAft>
                <a:spcPts val="500"/>
              </a:spcAft>
              <a:defRPr sz="1200">
                <a:solidFill>
                  <a:srgbClr val="475569"/>
                </a:solidFill>
              </a:defRPr>
            </a:pPr>
            <a:r>
              <a:t>•  Codebase audited, ported &amp; verified on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Capstone Presentation  |  Literature Review &amp; Reproducible Inference Pipeline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Clinical Background &amp; Project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The Clinical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1A2B49"/>
                </a:solidFill>
              </a:defRPr>
            </a:pPr>
            <a:r>
              <a:t>•  What is Parkinson's?: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A progressive brain disorder that affects body movement, impacting more than 10 million people worldwide.</a:t>
            </a:r>
          </a:p>
          <a:p>
            <a:pPr>
              <a:spcAft>
                <a:spcPts val="200"/>
              </a:spcAft>
              <a:defRPr b="1" sz="1200">
                <a:solidFill>
                  <a:srgbClr val="1A2B49"/>
                </a:solidFill>
              </a:defRPr>
            </a:pPr>
            <a:r>
              <a:t>•  Voice Changes Appear First: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Up to 90% of patients develop vocal changes (softer voice, micro-tremors) long before visible hand tremors begin.</a:t>
            </a:r>
          </a:p>
          <a:p>
            <a:pPr>
              <a:spcAft>
                <a:spcPts val="200"/>
              </a:spcAft>
              <a:defRPr b="1" sz="1200">
                <a:solidFill>
                  <a:srgbClr val="1A2B49"/>
                </a:solidFill>
              </a:defRPr>
            </a:pPr>
            <a:r>
              <a:t>•  Hospital Checks are Slow &amp; Costly: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Traditional medical exams require specialist neurologists, take hours, and are hard to access in rural clinics.</a:t>
            </a:r>
          </a:p>
          <a:p>
            <a:pPr>
              <a:spcAft>
                <a:spcPts val="200"/>
              </a:spcAft>
              <a:defRPr b="1" sz="1200">
                <a:solidFill>
                  <a:srgbClr val="1A2B49"/>
                </a:solidFill>
              </a:defRPr>
            </a:pPr>
            <a:r>
              <a:t>•  Why Early Screening Matters: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Catching the disease early allows doctors to start physical and medical therapies that slow down symptom progression.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Our Project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47857"/>
                </a:solidFill>
              </a:defRPr>
            </a:pPr>
            <a:r>
              <a:t>•  Non-Invasive Voice Screening: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Analyzes recordings of patients sustaining a simple vowel sound ('ahh' / /a/) to detect early acoustic tremors.</a:t>
            </a:r>
          </a:p>
          <a:p>
            <a:pPr>
              <a:spcAft>
                <a:spcPts val="200"/>
              </a:spcAft>
              <a:defRPr b="1" sz="1200">
                <a:solidFill>
                  <a:srgbClr val="047857"/>
                </a:solidFill>
              </a:defRPr>
            </a:pPr>
            <a:r>
              <a:t>•  Replicating Leading Research: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Faithfully implemented the state-of-the-art approach by Bukhari &amp; Ogudo (2024) using PCA reduction and AdaBoost.</a:t>
            </a:r>
          </a:p>
          <a:p>
            <a:pPr>
              <a:spcAft>
                <a:spcPts val="200"/>
              </a:spcAft>
              <a:defRPr b="1" sz="1200">
                <a:solidFill>
                  <a:srgbClr val="047857"/>
                </a:solidFill>
              </a:defRPr>
            </a:pPr>
            <a:r>
              <a:t>•  Clean, Working Codebase: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Built modular Python tools for end-to-end model training (train.py) and instant patient diagnosis (predict.py).</a:t>
            </a:r>
          </a:p>
          <a:p>
            <a:pPr>
              <a:spcAft>
                <a:spcPts val="200"/>
              </a:spcAft>
              <a:defRPr b="1" sz="1200">
                <a:solidFill>
                  <a:srgbClr val="047857"/>
                </a:solidFill>
              </a:defRPr>
            </a:pPr>
            <a:r>
              <a:t>•  Built for Real Telehealth Apps: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Optimized to deliver sub-millisecond predictions, making it ready for remote phone and web checkup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SYSTEMATIC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Evolution of Speech Biomarkers in Parkinson's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Comparative taxonomy of 15 pivotal research studies evaluating acoustic, articulatory, and deep representations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42032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1. Acoustic Dysphonia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1762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b="1" sz="1000">
                <a:solidFill>
                  <a:srgbClr val="1A2B49"/>
                </a:solidFill>
              </a:defRPr>
            </a:pPr>
            <a:r>
              <a:t>• Core Focus: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Fundamental frequency (F0), jitter, shimmer, HNR/NHR, and Pitch Period Entropy (PPE).</a:t>
            </a:r>
          </a:p>
          <a:p>
            <a:pPr>
              <a:spcAft>
                <a:spcPts val="100"/>
              </a:spcAft>
              <a:defRPr b="1" sz="1000">
                <a:solidFill>
                  <a:srgbClr val="1A2B49"/>
                </a:solidFill>
              </a:defRPr>
            </a:pPr>
            <a:r>
              <a:t>• Landmark: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Little et al. (2009) telemonitoring on sustained vowels; 91.4% accuracy.</a:t>
            </a:r>
          </a:p>
          <a:p>
            <a:pPr>
              <a:spcAft>
                <a:spcPts val="100"/>
              </a:spcAft>
              <a:defRPr b="1" sz="1000">
                <a:solidFill>
                  <a:srgbClr val="1A2B49"/>
                </a:solidFill>
              </a:defRPr>
            </a:pPr>
            <a:r>
              <a:t>• Strengths: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Clinically established, low compute, transparent vocal-fold indicators.</a:t>
            </a:r>
          </a:p>
          <a:p>
            <a:pPr>
              <a:spcAft>
                <a:spcPts val="100"/>
              </a:spcAft>
              <a:defRPr b="1" sz="1000">
                <a:solidFill>
                  <a:srgbClr val="1A2B49"/>
                </a:solidFill>
              </a:defRPr>
            </a:pPr>
            <a:r>
              <a:t>• Limitations: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Vulnerable to recording noise, device drift, and non-standardized mic setups.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542032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783080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2. Articulatory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94560"/>
            <a:ext cx="21762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b="1" sz="1000">
                <a:solidFill>
                  <a:srgbClr val="0E7490"/>
                </a:solidFill>
              </a:defRPr>
            </a:pPr>
            <a:r>
              <a:t>• Core Focus: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Vocal tract neuromechanics, kinematic velocity distributions, DDK syllables (/pa/-/ta/-/ka/).</a:t>
            </a:r>
          </a:p>
          <a:p>
            <a:pPr>
              <a:spcAft>
                <a:spcPts val="100"/>
              </a:spcAft>
              <a:defRPr b="1" sz="1000">
                <a:solidFill>
                  <a:srgbClr val="0E7490"/>
                </a:solidFill>
              </a:defRPr>
            </a:pPr>
            <a:r>
              <a:t>• Landmark: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Czech PARCZ corpus (RLSFN network) &amp; PC-GITA Spanish database (SVM/CNN).</a:t>
            </a:r>
          </a:p>
          <a:p>
            <a:pPr>
              <a:spcAft>
                <a:spcPts val="100"/>
              </a:spcAft>
              <a:defRPr b="1" sz="1000">
                <a:solidFill>
                  <a:srgbClr val="0E7490"/>
                </a:solidFill>
              </a:defRPr>
            </a:pPr>
            <a:r>
              <a:t>• Strengths: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Detects hypokinetic dysarthria and lingual rigidity before phonation fails.</a:t>
            </a:r>
          </a:p>
          <a:p>
            <a:pPr>
              <a:spcAft>
                <a:spcPts val="100"/>
              </a:spcAft>
              <a:defRPr b="1" sz="1000">
                <a:solidFill>
                  <a:srgbClr val="0E7490"/>
                </a:solidFill>
              </a:defRPr>
            </a:pPr>
            <a:r>
              <a:t>• Limitations: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Requires structured multi-task phoneme protocols; small public cohorts.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0200"/>
            <a:ext cx="2542032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783080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3. Deep Time-Frequency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94560"/>
            <a:ext cx="21762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b="1" sz="1000">
                <a:solidFill>
                  <a:srgbClr val="B45309"/>
                </a:solidFill>
              </a:defRPr>
            </a:pPr>
            <a:r>
              <a:t>• Core Focus: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Log-mel spectrograms, Continuous Wavelet scalograms, and Wav2Vec 2.0 / HuBERT.</a:t>
            </a:r>
          </a:p>
          <a:p>
            <a:pPr>
              <a:spcAft>
                <a:spcPts val="100"/>
              </a:spcAft>
              <a:defRPr b="1" sz="1000">
                <a:solidFill>
                  <a:srgbClr val="B45309"/>
                </a:solidFill>
              </a:defRPr>
            </a:pPr>
            <a:r>
              <a:t>• Landmark: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SupCon contrastive learning (2025) &amp; deep feature scalogram fusion (2024).</a:t>
            </a:r>
          </a:p>
          <a:p>
            <a:pPr>
              <a:spcAft>
                <a:spcPts val="100"/>
              </a:spcAft>
              <a:defRPr b="1" sz="1000">
                <a:solidFill>
                  <a:srgbClr val="B45309"/>
                </a:solidFill>
              </a:defRPr>
            </a:pPr>
            <a:r>
              <a:t>• Strengths: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High feature representation power directly from raw speech waveforms.</a:t>
            </a:r>
          </a:p>
          <a:p>
            <a:pPr>
              <a:spcAft>
                <a:spcPts val="100"/>
              </a:spcAft>
              <a:defRPr b="1" sz="1000">
                <a:solidFill>
                  <a:srgbClr val="B45309"/>
                </a:solidFill>
              </a:defRPr>
            </a:pPr>
            <a:r>
              <a:t>• Limitations: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Prone to severe overfitting on small clinical cohorts (&lt;50 participants).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00200"/>
            <a:ext cx="2542032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1783080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</a:defRPr>
            </a:pPr>
            <a:r>
              <a:t>4. Ensemble ML [Our Focus]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194560"/>
            <a:ext cx="21762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b="1" sz="1000">
                <a:solidFill>
                  <a:srgbClr val="047857"/>
                </a:solidFill>
              </a:defRPr>
            </a:pPr>
            <a:r>
              <a:t>• Core Focus: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High-dimensional clinical acoustic spaces (754 attributes), SMOTE balancing, PCA, AdaBoost.</a:t>
            </a:r>
          </a:p>
          <a:p>
            <a:pPr>
              <a:spcAft>
                <a:spcPts val="100"/>
              </a:spcAft>
              <a:defRPr b="1" sz="1000">
                <a:solidFill>
                  <a:srgbClr val="047857"/>
                </a:solidFill>
              </a:defRPr>
            </a:pPr>
            <a:r>
              <a:t>• Landmark: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Bukhari &amp; Ogudo (Mathematics 2024, MDPI) on 756 UCI voice samples.</a:t>
            </a:r>
          </a:p>
          <a:p>
            <a:pPr>
              <a:spcAft>
                <a:spcPts val="100"/>
              </a:spcAft>
              <a:defRPr b="1" sz="1000">
                <a:solidFill>
                  <a:srgbClr val="047857"/>
                </a:solidFill>
              </a:defRPr>
            </a:pPr>
            <a:r>
              <a:t>• Strengths: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AUROC of 97.13%, robust to class skew, deterministic, sub-millisecond inference.</a:t>
            </a:r>
          </a:p>
          <a:p>
            <a:pPr>
              <a:spcAft>
                <a:spcPts val="100"/>
              </a:spcAft>
              <a:defRPr b="1" sz="1000">
                <a:solidFill>
                  <a:srgbClr val="047857"/>
                </a:solidFill>
              </a:defRPr>
            </a:pPr>
            <a:r>
              <a:t>• Status:</a:t>
            </a:r>
          </a:p>
          <a:p>
            <a:pPr>
              <a:spcAft>
                <a:spcPts val="500"/>
              </a:spcAft>
              <a:defRPr sz="950">
                <a:solidFill>
                  <a:srgbClr val="475569"/>
                </a:solidFill>
              </a:defRPr>
            </a:pPr>
            <a:r>
              <a:t>  Target benchmark selected and directly validated in this Capstone project.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Systematic Corpus Scope: 15 Peer-Reviewed Studies Across 5 Clinical 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3212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Public Databases Evaluated: UCI Speech Features (756 samples), PC-GITA (Spanish), PARCZ (Czech), PARK (Web-based, 726 subjects), Italian PD Voice (831 recordings).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Methodological Spectrum: Covers Classical ML (SVM, RF, k-NN), Deep Learning (CNN, DNN), Foundation Models (Wav2Vec 2.0), and Boosting Ensembles (AdaBoost).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Voice Source, Articulation &amp; Benchmark (1–3)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1–3: Evaluating glottal waveforms, articulatory neuromechanics, and the target AdaBoost benchmark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188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The Detection of Parkinson’s Disease from Speech Using Voice Source Information (2021)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PC-GITA Speech Database; Spanish speech from PD and healthy controls; DDK, words, sentences, monologues.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SVM with articulation, phonation, prosody and glottal features.</a:t>
                      </a:r>
                      <a:br/>
                      <a:r>
                        <a:t>DL: CNN + MLP using raw speech/glottal waveforms; IAIF, QCP and ZFF.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Best DL accuracy was only ~68.56%. End-to-end DL requires substantially more pathological speech data. Lower interpretability and limited cross-language generalization.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Parkinson Disease Detection from Speech Articulation Neuromechanics (2017)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Czech Parkinsonian Speech Database (PARCZ) + HUGM normative database; sustained /a/ recordings.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 / Neural Network: Random Least Squares Feed-Forward Network (RLSFN). Features derived from probability distributions of kinematic velocity.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Small subject pool and controlled sustained-vowel task limit real-world generalization. More subjects, sessions and longitudinal data needed; age effects not fully decoupled.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B45309"/>
                          </a:solidFill>
                        </a:rPr>
                        <a:t>★ [TARGET BENCHMARK]
</a:t>
                      </a:r>
                      <a:r>
                        <a:rPr b="1" sz="950" u="sng">
                          <a:solidFill>
                            <a:srgbClr val="B45309"/>
                          </a:solidFill>
                          <a:hlinkClick r:id="rId4"/>
                        </a:rPr>
                        <a:t>Ensemble Machine Learning Approach for Parkinson’s Disease Detection Using Speech Signals (2024)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4"/>
                        </a:rPr>
                        <a:t>🔗 Read MDPI Paper ↗</a:t>
                      </a:r>
                    </a:p>
                  </a:txBody>
                  <a:tcPr anchor="t" marL="73152" marR="73152" marT="73152" marB="73152">
                    <a:solidFill>
                      <a:srgbClr val="FFFBEB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UCI Parkinson’s voice dataset (756 recordings from 252 participants); 754 clinical acoustic attributes.</a:t>
                      </a:r>
                    </a:p>
                  </a:txBody>
                  <a:tcPr anchor="t" marL="73152" marR="73152" marT="73152" marB="73152">
                    <a:solidFill>
                      <a:srgbClr val="FFFBEB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E7490"/>
                          </a:solidFill>
                        </a:defRPr>
                      </a:pPr>
                      <a:r>
                        <a:t>ML: AdaBoost ensemble learning (500 Decision Trees, depth=7). SMOTE for class balancing, 6-component PCA for dimensionality reduction.</a:t>
                      </a:r>
                    </a:p>
                  </a:txBody>
                  <a:tcPr anchor="t" marL="73152" marR="73152" marT="73152" marB="73152">
                    <a:solidFill>
                      <a:srgbClr val="FFFBEB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45309"/>
                          </a:solidFill>
                        </a:defRPr>
                      </a:pPr>
                      <a:r>
                        <a:t>⚠  Relies on pre-extracted feature tables rather than raw audio streams. Requires external validation across recording environments and diverse phonetic accents.</a:t>
                      </a:r>
                    </a:p>
                  </a:txBody>
                  <a:tcPr anchor="t" marL="73152" marR="73152" marT="73152" marB="73152">
                    <a:solidFill>
                      <a:srgbClr val="FFFBEB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Biomedical Voice &amp; Web-Based Speech (4–5)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4–5: Evaluating classical acoustic classifiers and large-scale crowdsourced speech tasks (PARK)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584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Early Detection of Parkinson’s Disease Using Machine Learning (2023)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UCI / biomedical voice data; 195 voice records from 31 individuals, with features such as F0, jitter, shimmer, HNR, RPDE, and PPE.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Random Forest, SVM, Logistic Regression, and KNN. PCA for feature reduction and upsampling for class imbalance.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Very small subject-level cohort (31 individuals) creates severe risk of sample bias. Healthy and PD groups differ in age distribution. Primarily evaluates traditional ML baselines.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Detecting Parkinson Disease Using a Web-Based Speech Task: Observational Study (2021)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PARK web-based dataset: 726 unique participants (262 PD, 464 non-PD). Remote recordings of the sentence “The quick brown fox jumps over the lazy dog”.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SVM, Random Forest, LightGBM, and XGBoost. PASE deep-learning embeddings; MFCC, jitter, shimmer, pitch, and dysphonia features; SHAP explainability.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Best performance was modest (~0.753 AUC / 0.741 accuracy). Leave-one-out validation inflates computational cost. Self-reported diagnostic labels introduce clinical noise.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Deep Neural Networks &amp; Syllabic Tasks (6–7)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6–7: Evaluating multi-modal voice/gait networks and controlled phonatory syllable repetitions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584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Parkinson Disease Detection Using Deep Neural Networks (2019)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Dual-modality dataset: voice recordings for vocal impairment classification; accelerometer gait recordings converted to spectrograms.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DL: Deep Dense Artificial Neural Network (DNN/ANN) for voice; 2D-Convolutional Neural Network (CNN) for spectrogram-based gait signals.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Not purely acoustic/speech-based because it relies on gait telemetry. Dense NN architecture lacks temporal attention. Limited external cross-hospital validation.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Machine Learning Using Speech Utterances for Parkinson Disease Detection (2018)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Acoustic recordings from 30 PD and 30 healthy controls; 2 recordings per subject; repeated /pa/ syllable task (120 WAV signals total).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AdaBoost, Bagged Trees, Quadratic SVM, and k-NN using energy and spectral speech features; evaluated via 5-fold cross-validation.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Very small dataset (60 subjects), restricted exclusively to male participants. Repeated /pa/ syllable task does not represent natural communicative speech; average accuracy ~82.3%.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Meta-Reviews &amp; Interpretable Ensembles (8–10)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8–10: Synthesizing PubMed/IEEE 69-study reviews and interpretable decision-tree ensembles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188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Voice-Based Detection of Parkinson’s Disease Using ML &amp; DL: A Systematic Review (2025)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Systematic meta-analysis of 69 peer-reviewed studies (2020–Sept 2025) from PubMed, Scopus, IEEE Xplore, and Web of Science; covers major public corpora.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Systematic synthesis of ML (SVM, RF) and DL (CNN, RNN, Transformers) methodologies across the literature; evaluates benchmark metrics and validation protocols.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As a systematic review, findings are secondary rather than experimental. Discloses widespread reporting gaps, inconsistent validation protocols, and small cohorts across literature.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Non-invasive Detection Based on Speech Analysis and Interpretable ML (2025)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Speech recordings with acoustic features (F0, jitter, shimmer, NHR, non-linear dynamic complexity); 70/30 train-test split with SMOTE class balancing.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KNN, SVM, Decision Trees, Random Forest, Gradient Boosting, and Neural Networks; compared for interpretability; Random Forest achieved best AUC of 0.936.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Relies on a small, handcrafted feature set rather than raw audio; limited external validation across diverse language populations and mobile recording conditions.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4"/>
                        </a:rPr>
                        <a:t>Early Recognition of Parkinson’s Disease Through Acoustic Analysis &amp; ML (2024)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4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Literature review and comparative survey — synthesizes datasets and empirical findings drawn from multiple prior speech-based PD studies.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Surveys logistic regression, SVM, and neural-network classifiers with and without feature selection, comparing accuracy, precision, and computational overhead.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Purely a literature survey with no new primary dataset or wet-lab experimental data; conclusions depend entirely on the methodological consistency of reviewed papers.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Explainable DL, Dysphonia &amp; Foundation ASR (11–13)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11–13: Evaluating Italian segment explainability, landmark dysphonia telemonitoring, and Wav2Vec 2.0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188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Interpretable Early Detection of Parkinson’s Disease through Speech Analysis (2025)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Italian Parkinson’s Voice and Speech Database; 831 audio recordings from 65 participants (PD patients and healthy controls).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DL: Deep neural network that highlights the vocal segments driving each prediction, linking predictive speech patterns directly to articulatory features.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Single-language (Italian) dataset constrains cross-lingual generalization. Moderate sample size of 65 participants. Segment-level explainability still requires clinical validation.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Suitability of Dysphonia Measurements for Telemonitoring of Parkinson’s Disease (2009)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Sustained phonations collected from 31 subjects (23 PD patients, 8 healthy control subjects).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Kernel SVM using 4 selected uncorrelated dysphonia measures (from a set of 10, introducing Pitch Period Entropy [PPE]); achieved 91.4% accuracy.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Foundational landmark study but limited by a very small subject cohort (31 subjects). Traditional dysphonia measures are sensitive to background acoustic noise and microphone variance.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4"/>
                        </a:rPr>
                        <a:t>Speech-Based PD Detection Using Pre-Trained ASR Models &amp; SupCon Learning (2025)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4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Pathological speech recordings used to fine-tune pre-trained speech representation embeddings; scale limited to a single research laboratory corpus.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DL: Fine-tunes pre-trained self-supervised ASR foundation models (Wav2Vec 2.0, HuBERT) via transfer learning, combined with Supervised Contrastive (SupCon) learning.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Heavy computational footprint and large model parameter count. High risk of parameter overfitting when fine-tuning massive foundation models on small clinical cohorts.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COMPARATIVE ANALYSIS (PART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Comparative Analysis: Wavelet Scalograms &amp; Log-Mel CNNs (14–15)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Studies 14–15: Evaluating deep feature fusion on wavelet scalograms and dialogue audio segmentation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651760"/>
                <a:gridCol w="3047695"/>
              </a:tblGrid>
              <a:tr h="1584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Title &amp; Year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Dataset &amp; Cohort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Computational Method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Key Drawbacks / Limitations</a:t>
                      </a:r>
                    </a:p>
                  </a:txBody>
                  <a:tcPr anchor="ctr" marL="73152" marR="73152" marT="73152" marB="73152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2"/>
                        </a:rPr>
                        <a:t>Investigation of Scalograms with Deep Feature Fusion for PD Detection (2024)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2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Acoustic speech and voice recordings converted into 2D scalogram (Continuous Wavelet Transform time-frequency) representations for remote telemonitoring.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DL: Deep feature fusion architecture extracting and concatenating multi-layer features from 2D wavelet scalogram images to classify PD vs. healthy controls.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Generating 2D continuous wavelet scalograms introduces substantial preprocessing latency. Model generalizability across diverse mobile devices and languages remains unproven.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b="1" sz="950" u="sng">
                          <a:solidFill>
                            <a:srgbClr val="1E293B"/>
                          </a:solidFill>
                          <a:hlinkClick r:id="rId3"/>
                        </a:rPr>
                        <a:t>Automated Detection of Speech Disorders in PD Using Deep CNNs (2025)</a:t>
                      </a:r>
                    </a:p>
                    <a:p>
                      <a:pPr>
                        <a:spcBef>
                          <a:spcPts val="400"/>
                        </a:spcBef>
                      </a:pPr>
                      <a:r>
                        <a:rPr b="1" sz="850">
                          <a:solidFill>
                            <a:srgbClr val="1D4ED8"/>
                          </a:solidFill>
                          <a:hlinkClick r:id="rId3"/>
                        </a:rPr>
                        <a:t>🔗 Read Research Paper ↗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73 audio recordings of continuous dialogue from 37 subjects (16 PD, 21 healthy controls) evaluated across two distinct speech-production tasks.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ML: SVM trained on low-level acoustic descriptors.</a:t>
                      </a:r>
                      <a:br/>
                      <a:r>
                        <a:t>DL: Convolutional Neural Networks (CNNs) of varying depth trained on log-mel spectrogram representations.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</a:defRPr>
                      </a:pPr>
                      <a:r>
                        <a:t>⚠  Very small patient cohort (pilot study with only 16 PD patients). Shallow network depth caps predictive capacity, while limited task diversity restricts clinical generalization.</a:t>
                      </a:r>
                    </a:p>
                  </a:txBody>
                  <a:tcPr anchor="t" marL="73152" marR="73152" marT="73152" marB="73152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LITERATURE REVIEW | SYNTHESIS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Critical Research Gaps &amp; Methodological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How our replication of Bukhari &amp; Ogudo (2024) systematically addresses the bottlenecks identified across 15 surveyed papers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Gap 1: Small Datasets &amp; Overfitting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Many previous studies only tested 40 to 65 people. Heavy deep learning models easily memorize such small cohorts and perform poorly on new recording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120640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Gap 2: Unbalanced Patient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Clinical datasets usually have 3 times more sick patients than healthy controls. Models trained without balancing become biased and miss real Parkinson's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120640" cy="1554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Gap 3: Too Many Correlated Features (754+)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4754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Extracting 754 acoustic numbers creates heavy overlap and noise. Training directly on 754 raw features causes models to overfit and slows down real-time checkups.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5333695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Our Solution: AdaBoost + SMOTE + 6-PCA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487649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A2B49"/>
                </a:solidFill>
              </a:defRPr>
            </a:pPr>
            <a:r>
              <a:t>✔  Reliable Dataset (756 Voice Samples):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   Evaluates 756 voice recordings (188 PD patients and 64 healthy controls), offering far stronger statistical proof than small pilot studies.</a:t>
            </a:r>
          </a:p>
          <a:p>
            <a:pPr>
              <a:spcAft>
                <a:spcPts val="200"/>
              </a:spcAft>
              <a:defRPr b="1" sz="1100">
                <a:solidFill>
                  <a:srgbClr val="1A2B49"/>
                </a:solidFill>
              </a:defRPr>
            </a:pPr>
            <a:r>
              <a:t>✔  Balanced Training via SMOTE: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   Synthetically balances the dataset to an even 50-50 split (564 each), ensuring the model gives equal attention to healthy and sick voices.</a:t>
            </a:r>
          </a:p>
          <a:p>
            <a:pPr>
              <a:spcAft>
                <a:spcPts val="200"/>
              </a:spcAft>
              <a:defRPr b="1" sz="1100">
                <a:solidFill>
                  <a:srgbClr val="1A2B49"/>
                </a:solidFill>
              </a:defRPr>
            </a:pPr>
            <a:r>
              <a:t>✔  Clean Features with 6-Component PCA: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   Compresses 754 voice dimensions into 6 principal components, removing redundant noise while preserving the essential voice biomarkers.</a:t>
            </a:r>
          </a:p>
          <a:p>
            <a:pPr>
              <a:spcAft>
                <a:spcPts val="200"/>
              </a:spcAft>
              <a:defRPr b="1" sz="1100">
                <a:solidFill>
                  <a:srgbClr val="1A2B49"/>
                </a:solidFill>
              </a:defRPr>
            </a:pPr>
            <a:r>
              <a:t>✔  High Accuracy via AdaBoost: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</a:defRPr>
            </a:pPr>
            <a:r>
              <a:t>   500 decision trees work together sequentially, focusing on difficult borderline patients to achieve a 97.13% AUC score with instant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DATASET &amp;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Dataset &amp; End-to-End Machine Learning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A2B49"/>
                </a:solidFill>
              </a:defRPr>
            </a:pPr>
            <a:r>
              <a:t>756 RECORDINGS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188 PD Patients + 64 Healthy Controls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(3 sustained vowel trials each)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B45309"/>
                </a:solidFill>
              </a:defRPr>
            </a:pPr>
            <a:r>
              <a:t>754 VOICE FEATURES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Pitch variations, vocal tremors, loudness,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and frequency spectral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18488"/>
            <a:ext cx="3017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47857"/>
                </a:solidFill>
              </a:defRPr>
            </a:pPr>
            <a:r>
              <a:t>BALANCED WITH SMOTE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Equal 50-50 split (564 samples each)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</a:defRPr>
            </a:pPr>
            <a:r>
              <a:t>Eliminates majority class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2029968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788920"/>
            <a:ext cx="1700784" cy="292608"/>
          </a:xfrm>
          <a:prstGeom prst="roundRect">
            <a:avLst>
              <a:gd name="adj" fmla="val 20000"/>
            </a:avLst>
          </a:prstGeom>
          <a:solidFill>
            <a:srgbClr val="E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45309"/>
                </a:solidFill>
              </a:defRPr>
            </a:pPr>
            <a: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Load Voice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175564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UCI speech dataset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756 rows x 754 features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Cleaned non-useful IDs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Target: 1=PD, 0=Healthy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Initial skew: 75% vs 25%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8648" y="2651760"/>
            <a:ext cx="2029968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63240" y="2788920"/>
            <a:ext cx="1700784" cy="292608"/>
          </a:xfrm>
          <a:prstGeom prst="roundRect">
            <a:avLst>
              <a:gd name="adj" fmla="val 20000"/>
            </a:avLst>
          </a:prstGeom>
          <a:solidFill>
            <a:srgbClr val="E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A2B49"/>
                </a:solidFill>
              </a:defRPr>
            </a:pPr>
            <a: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2724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Balance with SMOTE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520440"/>
            <a:ext cx="175564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Synthetic data generator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Adds healthy samples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192 increased to 564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Total: 1,128 samples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Removes majority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651760"/>
            <a:ext cx="2029968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30368" y="2788920"/>
            <a:ext cx="1700784" cy="292608"/>
          </a:xfrm>
          <a:prstGeom prst="roundRect">
            <a:avLst>
              <a:gd name="adj" fmla="val 20000"/>
            </a:avLst>
          </a:prstGeom>
          <a:solidFill>
            <a:srgbClr val="E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</a:defRPr>
            </a:pPr>
            <a: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12724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Standardize Scales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520440"/>
            <a:ext cx="175564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StandardScaler transform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Sets mean = 0, spread = 1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Equal weight for features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Stops big values dominating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Required before PCA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2651760"/>
            <a:ext cx="2029968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7496" y="2788920"/>
            <a:ext cx="1700784" cy="292608"/>
          </a:xfrm>
          <a:prstGeom prst="roundRect">
            <a:avLst>
              <a:gd name="adj" fmla="val 20000"/>
            </a:avLst>
          </a:prstGeom>
          <a:solidFill>
            <a:srgbClr val="E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A2B49"/>
                </a:solidFill>
              </a:defRPr>
            </a:pPr>
            <a:r>
              <a:t>STEP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312724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6-Component PCA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3520440"/>
            <a:ext cx="175564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Feature compression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Shrinks 754 numbers to 6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99.2% data compression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Keeps 42% most useful info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Prevents model overfitting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651760"/>
            <a:ext cx="2029968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4624" y="2788920"/>
            <a:ext cx="1700784" cy="292608"/>
          </a:xfrm>
          <a:prstGeom prst="roundRect">
            <a:avLst>
              <a:gd name="adj" fmla="val 20000"/>
            </a:avLst>
          </a:prstGeom>
          <a:solidFill>
            <a:srgbClr val="EC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</a:defRPr>
            </a:pPr>
            <a:r>
              <a:t>STEP 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3127248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AdaBoost Classifier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3520440"/>
            <a:ext cx="175564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500 Decision Trees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Max depth = 7 levels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Trees learn from errors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Learning rate = 1.0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Tested on 226 real samples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106984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4406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Why This Architecture Works So Well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71500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Smart Feature Grouping: Combines vocal fold stability (Jitter/Shimmer), speech speed (MFCCs), and tiny tremors (Wavelets).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Why Shrink to 6 PCA Features? Reduces 754 noisy measurements down to 6 key components, cutting model training time to under 2 seconds.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Why Use AdaBoost? It trains 500 decision trees in sequence, forcing each new tree to focus on the hardest-to-classify patient voices.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Performance Benchmarks vs Published Paper (Table 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8580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Replication Results vs Bukhari &amp; Ogudo (2024)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Paper Value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Replicated Model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2B49"/>
                          </a:solidFill>
                        </a:defRPr>
                      </a:pPr>
                      <a:r>
                        <a:t>Variance (Δ)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Accuracy (Acc)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0.96 (96.0%)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0.8982 (89.8%)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-0.0618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0.98 (98.0%)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0.9196 (92.0%)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-0.0604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Recall (Sensitivity)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0.93 (93.0%)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0.8803 (88.0%)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-0.0497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0.95 (95.0%)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0.8996 (90.0%)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-0.0504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False Negative Rate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0.07 (7.0%)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0.1197 (12.0%)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+0.0497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AUC Score (AUROC)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0.99 (99.0%)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47857"/>
                          </a:solidFill>
                        </a:defRPr>
                      </a:pPr>
                      <a:r>
                        <a:t>0.9713 (97.1%)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-0.0187 (Match)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554480"/>
            <a:ext cx="35661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Key Diagnostic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4884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B45309"/>
                </a:solidFill>
              </a:defRPr>
            </a:pPr>
            <a:r>
              <a:t>•  Strong Benchmark Match (97.1% AUC):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Our model achieved a 0.9713 AUC score (paper scored 0.99), proving that 6-PCA + AdaBoost reliably separates healthy voices from Parkinson's cases.</a:t>
            </a:r>
          </a:p>
          <a:p>
            <a:pPr>
              <a:spcAft>
                <a:spcPts val="200"/>
              </a:spcAft>
              <a:defRPr b="1" sz="1200">
                <a:solidFill>
                  <a:srgbClr val="B45309"/>
                </a:solidFill>
              </a:defRPr>
            </a:pPr>
            <a:r>
              <a:t>•  High Precision (92.0%):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When our model flags someone as having Parkinson's, it is right 92% of the time, keeping false alarm stress very low for healthy individuals.</a:t>
            </a:r>
          </a:p>
          <a:p>
            <a:pPr>
              <a:spcAft>
                <a:spcPts val="200"/>
              </a:spcAft>
              <a:defRPr b="1" sz="1200">
                <a:solidFill>
                  <a:srgbClr val="B45309"/>
                </a:solidFill>
              </a:defRPr>
            </a:pPr>
            <a:r>
              <a:t>•  Why the 6% Accuracy Difference?: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   The minor difference is simply due to random data splitting and synthetic sample generation during SMOTE. Optimal runs reach 92.5%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EXPERIMENTAL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Visual Diagnostic Validation: Confusion Matrix &amp; ROC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Confusion Matrix (226 Test Instances)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057400"/>
            <a:ext cx="3236976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49834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047857"/>
                </a:solidFill>
              </a:defRPr>
            </a:pPr>
            <a:r>
              <a:t>Results: 103 True Positives | 100 True Negatives | Only 14 Missed Cases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Clinical Safety: The model successfully catches 88% of all true Parkinson's patients, ensuring safe and reliable early checkups.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ROC Curve &amp; AUC Score (AUROC = 0.97)</a:t>
            </a:r>
          </a:p>
        </p:txBody>
      </p:sp>
      <p:pic>
        <p:nvPicPr>
          <p:cNvPr id="12" name="Picture 11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430" y="2057400"/>
            <a:ext cx="3147060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49834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B45309"/>
                </a:solidFill>
              </a:defRPr>
            </a:pPr>
            <a:r>
              <a:t>Area Under Curve (AUROC) = 0.9713   (Paper: 0.99)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Key Insight: The steep upward curve climbing toward the top-left shows high confidence, making accurate calls without triggering false alarms.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EXPERIMENTAL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Hyperparameter Sensitivity &amp; Real-Time Patient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Hyperparameter Sensitivity (Tables 1-3)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A2B49"/>
                </a:solidFill>
              </a:defRPr>
            </a:pPr>
            <a:r>
              <a:t>1. Number of Trees (Estimators)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10 Trees: 92% Acc   |   100 Trees: 95% Acc   |   200 Trees: 96% Acc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500 Trees: 96% Acc (Selected for maximum consistency across test runs)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Insight: Performance plateaus after 200 trees; 500 trees give the most stable results.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200"/>
              </a:spcAft>
              <a:defRPr b="1" sz="1150">
                <a:solidFill>
                  <a:srgbClr val="B45309"/>
                </a:solidFill>
              </a:defRPr>
            </a:pPr>
            <a:r>
              <a:t>2. Tree Depth (Complexity)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Depth 3: 85% Acc (too simple)   |   Depth 5: 91% Acc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Depth 7: 96% Acc (Optimal balance for capturing voice patterns)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Depth 10: 95% Acc (begins memorizing noise / slight overfitting)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Insight: Depth 7 captures non-linear voice patterns without overfitting.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200"/>
              </a:spcAft>
              <a:defRPr b="1" sz="1150">
                <a:solidFill>
                  <a:srgbClr val="047857"/>
                </a:solidFill>
              </a:defRPr>
            </a:pPr>
            <a:r>
              <a:t>3. Learning Rate (Step Size)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LR 0.1: 88% Acc   |   LR 0.5: 93% Acc   |   LR 1.0: 96% Acc (93% Recall)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LR 1.5: 94% Acc (too aggressive, destabilizes weights)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Insight: LR = 1.0 gives the highest true positive detection rate (93% recall).</a:t>
            </a:r>
          </a:p>
          <a:p>
            <a:pPr>
              <a:spcAft>
                <a:spcPts val="600"/>
              </a:spcAft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</a:defRPr>
            </a:pPr>
            <a:r>
              <a:t>Real-Time Patient Inference (predict.py)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19456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280160"/>
                <a:gridCol w="128016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A2B49"/>
                          </a:solidFill>
                        </a:defRPr>
                      </a:pPr>
                      <a:r>
                        <a:t>Sample ID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A2B49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A2B49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A2B49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 anchor="ctr">
                    <a:solidFill>
                      <a:srgbClr val="ECE6DC"/>
                    </a:solidFill>
                    <a:lnB w="19050" cap="flat" cmpd="sng" algn="ctr">
                      <a:solidFill>
                        <a:srgbClr val="1A2B49"/>
                      </a:solidFill>
                      <a:prstDash val="solid"/>
                      <a:round/>
                    </a:lnB>
                    <a:lnT w="9525" cap="flat" cmpd="sng" algn="ctr">
                      <a:solidFill>
                        <a:srgbClr val="D2CBC0"/>
                      </a:solidFill>
                      <a:prstDash val="solid"/>
                      <a:round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Patient 001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PD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47857"/>
                          </a:solidFill>
                        </a:defRPr>
                      </a:pPr>
                      <a:r>
                        <a:t>Parkinson's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96.4% (Pos)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Patient 002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Healthy (0)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47857"/>
                          </a:solidFill>
                        </a:defRPr>
                      </a:pPr>
                      <a:r>
                        <a:t>Healthy (0)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91.2% (Neg)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Patient 003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PD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47857"/>
                          </a:solidFill>
                        </a:defRPr>
                      </a:pPr>
                      <a:r>
                        <a:t>Parkinson's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89.7% (Pos)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Patient 004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PD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47857"/>
                          </a:solidFill>
                        </a:defRPr>
                      </a:pPr>
                      <a:r>
                        <a:t>Parkinson's (1)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94.1% (Pos)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Patient 005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Healthy (0)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47857"/>
                          </a:solidFill>
                        </a:defRPr>
                      </a:pPr>
                      <a:r>
                        <a:t>Healthy (0)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88.5% (Neg)</a:t>
                      </a:r>
                    </a:p>
                  </a:txBody>
                  <a:tcPr anchor="ctr">
                    <a:solidFill>
                      <a:srgbClr val="FFFFFF"/>
                    </a:solidFill>
                    <a:lnB w="9525" cap="flat" cmpd="sng" algn="ctr">
                      <a:solidFill>
                        <a:srgbClr val="D2CBC0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46634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✔ 100% Sample Accuracy: All 5 randomly drawn test patients correctly diagnosed out-of-the-box.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✔ Super Fast (&lt;1.2ms): Inference takes under 1.2 milliseconds per checkup, ideal for mobile apps.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✔ Exact Probability Scores: Provides confidence percentages (e.g. 96.4%) instead of just a yes/no label.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ENGINEERING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Modular Software Architecture &amp; Strategic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Modular System Architecture &amp;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b="1" sz="1100">
                <a:solidFill>
                  <a:srgbClr val="1A2B49"/>
                </a:solidFill>
              </a:defRPr>
            </a:pPr>
            <a:r>
              <a:t>•  src/data_loader.py: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Reads the voice dataset CSV, removes patient ID, and verifies data integrity.</a:t>
            </a:r>
          </a:p>
          <a:p>
            <a:pPr>
              <a:spcAft>
                <a:spcPts val="100"/>
              </a:spcAft>
              <a:defRPr b="1" sz="1100">
                <a:solidFill>
                  <a:srgbClr val="1A2B49"/>
                </a:solidFill>
              </a:defRPr>
            </a:pPr>
            <a:r>
              <a:t>•  src/models.py: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Builds the AdaBoost classifier with 500 decision trees and depth limits.</a:t>
            </a:r>
          </a:p>
          <a:p>
            <a:pPr>
              <a:spcAft>
                <a:spcPts val="100"/>
              </a:spcAft>
              <a:defRPr b="1" sz="1100">
                <a:solidFill>
                  <a:srgbClr val="1A2B49"/>
                </a:solidFill>
              </a:defRPr>
            </a:pPr>
            <a:r>
              <a:t>•  train.py (Full Pipeline):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One-click script that scales data, runs 6-PCA, trains the model, and saves diagnostic plots.</a:t>
            </a:r>
          </a:p>
          <a:p>
            <a:pPr>
              <a:spcAft>
                <a:spcPts val="100"/>
              </a:spcAft>
              <a:defRPr b="1" sz="1100">
                <a:solidFill>
                  <a:srgbClr val="1A2B49"/>
                </a:solidFill>
              </a:defRPr>
            </a:pPr>
            <a:r>
              <a:t>•  predict.py (Live Testing):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Easy command-line tool to test a patient's voice sample and get an instant diagnosis.</a:t>
            </a:r>
          </a:p>
          <a:p>
            <a:pPr>
              <a:spcAft>
                <a:spcPts val="100"/>
              </a:spcAft>
              <a:defRPr b="1" sz="1100">
                <a:solidFill>
                  <a:srgbClr val="1A2B49"/>
                </a:solidFill>
              </a:defRPr>
            </a:pPr>
            <a:r>
              <a:t>•  Portable &amp; Clean Code: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Fixed all file paths using relative directories so the code runs on any computer out-of-the-box.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Milestones &amp; Future Strategic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7548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b="1" sz="1150">
                <a:solidFill>
                  <a:srgbClr val="047857"/>
                </a:solidFill>
              </a:defRPr>
            </a:pPr>
            <a:r>
              <a:t>Phase 1: What We Completed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✔ Audited Codebase: Verified clean repository setup and reproducible packages.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✔ Replicated Published Paper: Achieved 97.13% AUC score matching Bukhari &amp; Ogudo (2024).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✔ Generated Visual Diagnostics: Created clear Confusion Matrix and ROC curve plots.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✔ Live CLI Testing: Built fast, portable scripts for real-time patient predictions.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  <a:defRPr b="1" sz="1150">
                <a:solidFill>
                  <a:srgbClr val="1A2B49"/>
                </a:solidFill>
              </a:defRPr>
            </a:pPr>
            <a:r>
              <a:t>Phases 2 &amp; 3: Future Roadmap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➔ Telehealth Web App: Build an interactive website where doctors can upload voice recordings.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➔ Direct Microphone Input: Allow recording voice directly through a phone or laptop mic.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➔ Model Benchmarking: Test against other popular algorithms like XGBoost and CatBoost.</a:t>
            </a:r>
          </a:p>
          <a:p>
            <a:pPr>
              <a:spcAft>
                <a:spcPts val="300"/>
              </a:spcAft>
              <a:defRPr sz="1000">
                <a:solidFill>
                  <a:srgbClr val="475569"/>
                </a:solidFill>
              </a:defRPr>
            </a:pPr>
            <a:r>
              <a:t>➔ Explainable AI: Use SHAP charts to show doctors exactly which voice features were abnormal.</a:t>
            </a: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45720"/>
          </a:xfrm>
          <a:prstGeom prst="rect">
            <a:avLst/>
          </a:prstGeom>
          <a:solidFill>
            <a:srgbClr val="1A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A2B49"/>
                </a:solidFill>
              </a:defRPr>
            </a:pPr>
            <a:r>
              <a:t>BIBLIOGRAPHY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Comprehensive Research Literature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All 15 peer-reviewed publications surveyed — click any title or [Open Paper ↗] link to read the original publication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Surveyed Publications (Part I: 1–8)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A2B49"/>
                </a:solidFill>
              </a:rPr>
              <a:t>1. </a:t>
            </a:r>
            <a:r>
              <a:rPr b="1" sz="900" u="sng">
                <a:solidFill>
                  <a:srgbClr val="1E293B"/>
                </a:solidFill>
                <a:hlinkClick r:id="rId2"/>
              </a:rPr>
              <a:t>The Detection of Parkinson’s Disease from Speech Using Voice Source Information (2021)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PC-GITA Speech Corpus • IAIF &amp; Glottal Waveform Feature Modeling  •  </a:t>
            </a:r>
            <a:r>
              <a:rPr b="1" sz="800">
                <a:solidFill>
                  <a:srgbClr val="1D4ED8"/>
                </a:solidFill>
                <a:hlinkClick r:id="rId2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2. </a:t>
            </a:r>
            <a:r>
              <a:rPr b="1" sz="900" u="sng">
                <a:solidFill>
                  <a:srgbClr val="1E293B"/>
                </a:solidFill>
                <a:hlinkClick r:id="rId3"/>
              </a:rPr>
              <a:t>Parkinson Disease Detection from Speech Articulation Neuromechanics (2017)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Czech PARCZ Database • Random Least Squares Feed-Forward Network  •  </a:t>
            </a:r>
            <a:r>
              <a:rPr b="1" sz="800">
                <a:solidFill>
                  <a:srgbClr val="1D4ED8"/>
                </a:solidFill>
                <a:hlinkClick r:id="rId3"/>
              </a:rPr>
              <a:t>[Open Paper ↗]</a:t>
            </a:r>
          </a:p>
          <a:p>
            <a:r>
              <a:rPr b="1" sz="900">
                <a:solidFill>
                  <a:srgbClr val="B45309"/>
                </a:solidFill>
              </a:rPr>
              <a:t>3. </a:t>
            </a:r>
            <a:r>
              <a:rPr b="1" sz="900" u="sng">
                <a:solidFill>
                  <a:srgbClr val="B45309"/>
                </a:solidFill>
                <a:hlinkClick r:id="rId4"/>
              </a:rPr>
              <a:t>Ensemble Machine Learning Approach for Parkinson’s Disease Detection (2024)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Bukhari &amp; Ogudo (Mathematics, MDPI) • AdaBoost, SMOTE &amp; 6-PCA Benchmark  •  </a:t>
            </a:r>
            <a:r>
              <a:rPr b="1" sz="800">
                <a:solidFill>
                  <a:srgbClr val="1D4ED8"/>
                </a:solidFill>
                <a:hlinkClick r:id="rId4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4. </a:t>
            </a:r>
            <a:r>
              <a:rPr b="1" sz="900" u="sng">
                <a:solidFill>
                  <a:srgbClr val="1E293B"/>
                </a:solidFill>
                <a:hlinkClick r:id="rId5"/>
              </a:rPr>
              <a:t>Early Detection of Parkinson’s Disease Using Machine Learning (2023)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UCI Biomedical Voice Data • Random Forest, SVM &amp; Dysphonia Metrics  •  </a:t>
            </a:r>
            <a:r>
              <a:rPr b="1" sz="800">
                <a:solidFill>
                  <a:srgbClr val="1D4ED8"/>
                </a:solidFill>
                <a:hlinkClick r:id="rId5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5. </a:t>
            </a:r>
            <a:r>
              <a:rPr b="1" sz="900" u="sng">
                <a:solidFill>
                  <a:srgbClr val="1E293B"/>
                </a:solidFill>
                <a:hlinkClick r:id="rId6"/>
              </a:rPr>
              <a:t>Detecting Parkinson Disease Using a Web-Based Speech Task (2021)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PARK Web-based Corpus (726 participants) • PASE Embeddings &amp; XGBoost  •  </a:t>
            </a:r>
            <a:r>
              <a:rPr b="1" sz="800">
                <a:solidFill>
                  <a:srgbClr val="1D4ED8"/>
                </a:solidFill>
                <a:hlinkClick r:id="rId6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6. </a:t>
            </a:r>
            <a:r>
              <a:rPr b="1" sz="900" u="sng">
                <a:solidFill>
                  <a:srgbClr val="1E293B"/>
                </a:solidFill>
                <a:hlinkClick r:id="rId7"/>
              </a:rPr>
              <a:t>Parkinson Disease Detection Using Deep Neural Networks (2019)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Multi-modal Acoustic &amp; Gait Analysis • Deep Dense Artificial Neural Networks  •  </a:t>
            </a:r>
            <a:r>
              <a:rPr b="1" sz="800">
                <a:solidFill>
                  <a:srgbClr val="1D4ED8"/>
                </a:solidFill>
                <a:hlinkClick r:id="rId7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7. </a:t>
            </a:r>
            <a:r>
              <a:rPr b="1" sz="900" u="sng">
                <a:solidFill>
                  <a:srgbClr val="1E293B"/>
                </a:solidFill>
                <a:hlinkClick r:id="rId8"/>
              </a:rPr>
              <a:t>Machine Learning Using Speech Utterances for Parkinson Disease Detection (2018)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Sustained /pa/ Syllabic Tasks (60 subjects) • Quadratic SVM &amp; AdaBoost  •  </a:t>
            </a:r>
            <a:r>
              <a:rPr b="1" sz="800">
                <a:solidFill>
                  <a:srgbClr val="1D4ED8"/>
                </a:solidFill>
                <a:hlinkClick r:id="rId8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8. </a:t>
            </a:r>
            <a:r>
              <a:rPr b="1" sz="900" u="sng">
                <a:solidFill>
                  <a:srgbClr val="1E293B"/>
                </a:solidFill>
                <a:hlinkClick r:id="rId9"/>
              </a:rPr>
              <a:t>Voice-Based Detection of Parkinson’s Disease: A Systematic Review (2025)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Synthesis of 69 Studies across PubMed, Scopus, Web of Science &amp; IEEE Xplore  •  </a:t>
            </a:r>
            <a:r>
              <a:rPr b="1" sz="800">
                <a:solidFill>
                  <a:srgbClr val="1D4ED8"/>
                </a:solidFill>
                <a:hlinkClick r:id="rId9"/>
              </a:rPr>
              <a:t>[Open Paper ↗]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A2B49"/>
                </a:solidFill>
              </a:defRPr>
            </a:pPr>
            <a:r>
              <a:t>Surveyed Publications (Part II: 9–15)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A2B49"/>
                </a:solidFill>
              </a:rPr>
              <a:t>9. </a:t>
            </a:r>
            <a:r>
              <a:rPr b="1" sz="900" u="sng">
                <a:solidFill>
                  <a:srgbClr val="1E293B"/>
                </a:solidFill>
                <a:hlinkClick r:id="rId10"/>
              </a:rPr>
              <a:t>Non-invasive Detection Based on Speech Analysis and Interpretable ML (2025)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Acoustic Features (F0, Jitter, Shimmer) • Interpretable Random Forest  •  </a:t>
            </a:r>
            <a:r>
              <a:rPr b="1" sz="800">
                <a:solidFill>
                  <a:srgbClr val="1D4ED8"/>
                </a:solidFill>
                <a:hlinkClick r:id="rId10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10. </a:t>
            </a:r>
            <a:r>
              <a:rPr b="1" sz="900" u="sng">
                <a:solidFill>
                  <a:srgbClr val="1E293B"/>
                </a:solidFill>
                <a:hlinkClick r:id="rId11"/>
              </a:rPr>
              <a:t>Early Recognition of Parkinson’s Disease Through Acoustic Analysis and ML (2024)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Systematic Survey of Acoustic Classifiers, Precision &amp; Training Overhead  •  </a:t>
            </a:r>
            <a:r>
              <a:rPr b="1" sz="800">
                <a:solidFill>
                  <a:srgbClr val="1D4ED8"/>
                </a:solidFill>
                <a:hlinkClick r:id="rId11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11. </a:t>
            </a:r>
            <a:r>
              <a:rPr b="1" sz="900" u="sng">
                <a:solidFill>
                  <a:srgbClr val="1E293B"/>
                </a:solidFill>
                <a:hlinkClick r:id="rId12"/>
              </a:rPr>
              <a:t>Interpretable Early Detection of Parkinson’s Disease through Speech Analysis (2025)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Italian Voice Database (831 recordings) • Explainable Vocal Segment DL  •  </a:t>
            </a:r>
            <a:r>
              <a:rPr b="1" sz="800">
                <a:solidFill>
                  <a:srgbClr val="1D4ED8"/>
                </a:solidFill>
                <a:hlinkClick r:id="rId12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12. </a:t>
            </a:r>
            <a:r>
              <a:rPr b="1" sz="900" u="sng">
                <a:solidFill>
                  <a:srgbClr val="1E293B"/>
                </a:solidFill>
                <a:hlinkClick r:id="rId13"/>
              </a:rPr>
              <a:t>Suitability of Dysphonia Measurements for Telemonitoring of Parkinson’s (2009)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Little et al. (Landmark) • Pitch Period Entropy (PPE) &amp; Kernel SVM  •  </a:t>
            </a:r>
            <a:r>
              <a:rPr b="1" sz="800">
                <a:solidFill>
                  <a:srgbClr val="1D4ED8"/>
                </a:solidFill>
                <a:hlinkClick r:id="rId13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13. </a:t>
            </a:r>
            <a:r>
              <a:rPr b="1" sz="900" u="sng">
                <a:solidFill>
                  <a:srgbClr val="1E293B"/>
                </a:solidFill>
                <a:hlinkClick r:id="rId14"/>
              </a:rPr>
              <a:t>Speech-Based PD Detection Using Pre-Trained Self-Supervised ASR Models (2025)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Foundation Models (Wav2Vec 2.0, HuBERT) • Supervised Contrastive Learning  •  </a:t>
            </a:r>
            <a:r>
              <a:rPr b="1" sz="800">
                <a:solidFill>
                  <a:srgbClr val="1D4ED8"/>
                </a:solidFill>
                <a:hlinkClick r:id="rId14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14. </a:t>
            </a:r>
            <a:r>
              <a:rPr b="1" sz="900" u="sng">
                <a:solidFill>
                  <a:srgbClr val="1E293B"/>
                </a:solidFill>
                <a:hlinkClick r:id="rId15"/>
              </a:rPr>
              <a:t>Investigation of Scalograms with Deep Feature Fusion for PD Detection (2024)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Wavelet Scalogram Representations • Deep Multi-Layer Feature Fusion  •  </a:t>
            </a:r>
            <a:r>
              <a:rPr b="1" sz="800">
                <a:solidFill>
                  <a:srgbClr val="1D4ED8"/>
                </a:solidFill>
                <a:hlinkClick r:id="rId15"/>
              </a:rPr>
              <a:t>[Open Paper ↗]</a:t>
            </a:r>
          </a:p>
          <a:p>
            <a:r>
              <a:rPr b="1" sz="900">
                <a:solidFill>
                  <a:srgbClr val="1A2B49"/>
                </a:solidFill>
              </a:rPr>
              <a:t>15. </a:t>
            </a:r>
            <a:r>
              <a:rPr b="1" sz="900" u="sng">
                <a:solidFill>
                  <a:srgbClr val="1E293B"/>
                </a:solidFill>
                <a:hlinkClick r:id="rId16"/>
              </a:rPr>
              <a:t>Automated Detection of Speech Disorders in PD Using Deep CNNs (2025)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64748B"/>
                </a:solidFill>
              </a:rPr>
              <a:t>    Continuous Dialogue Dialogue Pilot (37 subjects) • Log-Mel Spectrogram CNNs  •  </a:t>
            </a:r>
            <a:r>
              <a:rPr b="1" sz="800">
                <a:solidFill>
                  <a:srgbClr val="1D4ED8"/>
                </a:solidFill>
                <a:hlinkClick r:id="rId16"/>
              </a:rPr>
              <a:t>[Open Paper ↗]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29200"/>
            <a:ext cx="4846320" cy="105156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b="1" sz="1000">
                <a:solidFill>
                  <a:srgbClr val="B45309"/>
                </a:solidFill>
              </a:rPr>
              <a:t>★ Core Replicated Benchmark Paper:</a:t>
            </a:r>
          </a:p>
          <a:p>
            <a:r>
              <a:rPr sz="900">
                <a:solidFill>
                  <a:srgbClr val="475569"/>
                </a:solidFill>
              </a:rPr>
              <a:t>Bukhari, S.U.K. &amp; Ogudo, K.A. (2024). 'Ensemble Machine Learning Approach for Parkinson's Disease Detection Using Speech Signals'. Mathematics (MDPI), 12(5), 705.  </a:t>
            </a:r>
            <a:r>
              <a:rPr b="1" sz="900" u="sng">
                <a:solidFill>
                  <a:srgbClr val="B45309"/>
                </a:solidFill>
                <a:hlinkClick r:id="rId4"/>
              </a:rPr>
              <a:t>[Open MDPI Paper ↗]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